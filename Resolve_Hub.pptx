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9" r:id="rId4"/>
    <p:sldId id="264" r:id="rId5"/>
    <p:sldId id="261" r:id="rId6"/>
    <p:sldId id="263" r:id="rId7"/>
  </p:sldIdLst>
  <p:sldSz cx="18288000" cy="10287000"/>
  <p:notesSz cx="6858000" cy="9144000"/>
  <p:embeddedFontLst>
    <p:embeddedFont>
      <p:font typeface="Open Sauce" panose="020B0604020202020204" charset="0"/>
      <p:regular r:id="rId8"/>
    </p:embeddedFont>
    <p:embeddedFont>
      <p:font typeface="Open Sauce Bold" panose="020B0604020202020204" charset="0"/>
      <p:regular r:id="rId9"/>
    </p:embeddedFont>
    <p:embeddedFont>
      <p:font typeface="Open Sauce Semi-Bold" panose="020B0604020202020204" charset="0"/>
      <p:regular r:id="rId10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0293" autoAdjust="0"/>
    <p:restoredTop sz="94622" autoAdjust="0"/>
  </p:normalViewPr>
  <p:slideViewPr>
    <p:cSldViewPr>
      <p:cViewPr varScale="1">
        <p:scale>
          <a:sx n="65" d="100"/>
          <a:sy n="65" d="100"/>
        </p:scale>
        <p:origin x="48" y="12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font" Target="fonts/font1.fntdata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font" Target="fonts/font3.fntdata"/><Relationship Id="rId4" Type="http://schemas.openxmlformats.org/officeDocument/2006/relationships/slide" Target="slides/slide3.xml"/><Relationship Id="rId9" Type="http://schemas.openxmlformats.org/officeDocument/2006/relationships/font" Target="fonts/font2.fntdata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jpe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1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381000" y="495300"/>
            <a:ext cx="17297400" cy="92964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7181" t="-19076" r="-3000" b="-11427"/>
            </a:stretch>
          </a:blipFill>
        </p:spPr>
      </p:sp>
      <p:sp>
        <p:nvSpPr>
          <p:cNvPr id="3" name="TextBox 3"/>
          <p:cNvSpPr txBox="1"/>
          <p:nvPr/>
        </p:nvSpPr>
        <p:spPr>
          <a:xfrm>
            <a:off x="1028700" y="3193386"/>
            <a:ext cx="10155052" cy="148329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5120"/>
              </a:lnSpc>
            </a:pPr>
            <a:endParaRPr lang="en-US" sz="1050" spc="-826" dirty="0">
              <a:solidFill>
                <a:srgbClr val="185079"/>
              </a:solidFill>
              <a:latin typeface="Open Sauce"/>
              <a:ea typeface="Open Sauce"/>
              <a:cs typeface="Open Sauce"/>
              <a:sym typeface="Open Sauce"/>
            </a:endParaRPr>
          </a:p>
        </p:txBody>
      </p:sp>
      <p:sp>
        <p:nvSpPr>
          <p:cNvPr id="5" name="TextBox 5"/>
          <p:cNvSpPr txBox="1"/>
          <p:nvPr/>
        </p:nvSpPr>
        <p:spPr>
          <a:xfrm>
            <a:off x="1169885" y="275207"/>
            <a:ext cx="10564916" cy="443711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17279"/>
              </a:lnSpc>
              <a:spcBef>
                <a:spcPct val="0"/>
              </a:spcBef>
            </a:pPr>
            <a:r>
              <a:rPr lang="en-US" sz="9600" b="1" spc="-118" dirty="0">
                <a:solidFill>
                  <a:srgbClr val="185079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RESOLVE HUB</a:t>
            </a:r>
          </a:p>
          <a:p>
            <a:pPr marL="0" lvl="0" indent="0" algn="l">
              <a:lnSpc>
                <a:spcPts val="17279"/>
              </a:lnSpc>
              <a:spcBef>
                <a:spcPct val="0"/>
              </a:spcBef>
            </a:pPr>
            <a:endParaRPr lang="en-US" sz="15999" b="1" u="none" strike="noStrike" spc="-943" dirty="0">
              <a:solidFill>
                <a:srgbClr val="185079"/>
              </a:solidFill>
              <a:latin typeface="Open Sauce Semi-Bold"/>
              <a:ea typeface="Open Sauce Semi-Bold"/>
              <a:cs typeface="Open Sauce Semi-Bold"/>
              <a:sym typeface="Open Sauce Semi-Bold"/>
            </a:endParaRPr>
          </a:p>
        </p:txBody>
      </p:sp>
      <p:sp>
        <p:nvSpPr>
          <p:cNvPr id="7" name="TextBox 7"/>
          <p:cNvSpPr txBox="1"/>
          <p:nvPr/>
        </p:nvSpPr>
        <p:spPr>
          <a:xfrm>
            <a:off x="609600" y="2857500"/>
            <a:ext cx="11363037" cy="602299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3564"/>
              </a:lnSpc>
            </a:pPr>
            <a:r>
              <a:rPr lang="en-US" sz="4000" b="1" spc="-118" dirty="0">
                <a:solidFill>
                  <a:srgbClr val="185079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  </a:t>
            </a:r>
          </a:p>
          <a:p>
            <a:pPr>
              <a:lnSpc>
                <a:spcPts val="3564"/>
              </a:lnSpc>
            </a:pPr>
            <a:r>
              <a:rPr lang="en-US" sz="4000" b="1" spc="-118" dirty="0">
                <a:solidFill>
                  <a:srgbClr val="185079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 </a:t>
            </a:r>
            <a:r>
              <a:rPr lang="en-US" sz="4000" b="1" spc="-118" dirty="0">
                <a:solidFill>
                  <a:srgbClr val="185079"/>
                </a:solidFill>
                <a:latin typeface="Arial" panose="020B0604020202020204" pitchFamily="34" charset="0"/>
                <a:ea typeface="Open Sauce Bold"/>
                <a:cs typeface="Arial" panose="020B0604020202020204" pitchFamily="34" charset="0"/>
                <a:sym typeface="Open Sauce Bold"/>
              </a:rPr>
              <a:t>Smart Municipal Issue Reporting Platform</a:t>
            </a:r>
          </a:p>
          <a:p>
            <a:pPr>
              <a:lnSpc>
                <a:spcPts val="3564"/>
              </a:lnSpc>
            </a:pPr>
            <a:endParaRPr lang="en-US" sz="3300" b="1" spc="-118" dirty="0">
              <a:solidFill>
                <a:srgbClr val="185079"/>
              </a:solidFill>
              <a:latin typeface="Arial" panose="020B0604020202020204" pitchFamily="34" charset="0"/>
              <a:ea typeface="Open Sauce Bold"/>
              <a:cs typeface="Arial" panose="020B0604020202020204" pitchFamily="34" charset="0"/>
              <a:sym typeface="Open Sauce Bold"/>
            </a:endParaRPr>
          </a:p>
          <a:p>
            <a:pPr>
              <a:lnSpc>
                <a:spcPts val="3564"/>
              </a:lnSpc>
            </a:pPr>
            <a:endParaRPr lang="en-US" sz="3300" b="1" spc="-118" dirty="0">
              <a:solidFill>
                <a:srgbClr val="185079"/>
              </a:solidFill>
              <a:latin typeface="Arial" panose="020B0604020202020204" pitchFamily="34" charset="0"/>
              <a:ea typeface="Open Sauce Bold"/>
              <a:cs typeface="Arial" panose="020B0604020202020204" pitchFamily="34" charset="0"/>
              <a:sym typeface="Open Sauce Bold"/>
            </a:endParaRPr>
          </a:p>
          <a:p>
            <a:pPr>
              <a:lnSpc>
                <a:spcPts val="3564"/>
              </a:lnSpc>
            </a:pPr>
            <a:endParaRPr lang="en-US" sz="3300" b="1" spc="-118" dirty="0">
              <a:solidFill>
                <a:srgbClr val="185079"/>
              </a:solidFill>
              <a:latin typeface="Arial" panose="020B0604020202020204" pitchFamily="34" charset="0"/>
              <a:ea typeface="Open Sauce Bold"/>
              <a:cs typeface="Arial" panose="020B0604020202020204" pitchFamily="34" charset="0"/>
              <a:sym typeface="Open Sauce Bold"/>
            </a:endParaRPr>
          </a:p>
          <a:p>
            <a:pPr>
              <a:lnSpc>
                <a:spcPct val="150000"/>
              </a:lnSpc>
            </a:pPr>
            <a:r>
              <a:rPr lang="en-US" sz="3300" b="1" spc="-118" dirty="0">
                <a:solidFill>
                  <a:srgbClr val="185079"/>
                </a:solidFill>
                <a:latin typeface="Arial" panose="020B0604020202020204" pitchFamily="34" charset="0"/>
                <a:ea typeface="Open Sauce Bold"/>
                <a:cs typeface="Arial" panose="020B0604020202020204" pitchFamily="34" charset="0"/>
                <a:sym typeface="Open Sauce Bold"/>
              </a:rPr>
              <a:t>        Resolve Hub is a full-stack, responsive web application designed to bridge this gap. It provides a centralized, transparent platform where community members can easily report issues and local authorities can efficiently manage and resolve them.</a:t>
            </a:r>
          </a:p>
        </p:txBody>
      </p:sp>
      <p:pic>
        <p:nvPicPr>
          <p:cNvPr id="12" name="Picture 11" descr="Problem solving cartoon Images - Free Download on Magnific (formerly  Freepik)">
            <a:extLst>
              <a:ext uri="{FF2B5EF4-FFF2-40B4-BE49-F238E27FC236}">
                <a16:creationId xmlns:a16="http://schemas.microsoft.com/office/drawing/2014/main" id="{FA41DCF8-1E29-800C-5158-092B42668D4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627857" y="1257300"/>
            <a:ext cx="6090811" cy="6090811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7181" t="-19076" r="-3000" b="-11427"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-2520957" y="4381500"/>
            <a:ext cx="5568957" cy="9447030"/>
          </a:xfrm>
          <a:custGeom>
            <a:avLst/>
            <a:gdLst/>
            <a:ahLst/>
            <a:cxnLst/>
            <a:rect l="l" t="t" r="r" b="b"/>
            <a:pathLst>
              <a:path w="15919790" h="13575239">
                <a:moveTo>
                  <a:pt x="0" y="0"/>
                </a:moveTo>
                <a:lnTo>
                  <a:pt x="15919789" y="0"/>
                </a:lnTo>
                <a:lnTo>
                  <a:pt x="15919789" y="13575239"/>
                </a:lnTo>
                <a:lnTo>
                  <a:pt x="0" y="1357523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11275201" y="-7726307"/>
            <a:ext cx="15919790" cy="13575239"/>
          </a:xfrm>
          <a:custGeom>
            <a:avLst/>
            <a:gdLst/>
            <a:ahLst/>
            <a:cxnLst/>
            <a:rect l="l" t="t" r="r" b="b"/>
            <a:pathLst>
              <a:path w="15919790" h="13575239">
                <a:moveTo>
                  <a:pt x="0" y="0"/>
                </a:moveTo>
                <a:lnTo>
                  <a:pt x="15919790" y="0"/>
                </a:lnTo>
                <a:lnTo>
                  <a:pt x="15919790" y="13575239"/>
                </a:lnTo>
                <a:lnTo>
                  <a:pt x="0" y="1357523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grpSp>
        <p:nvGrpSpPr>
          <p:cNvPr id="5" name="Group 5"/>
          <p:cNvGrpSpPr/>
          <p:nvPr/>
        </p:nvGrpSpPr>
        <p:grpSpPr>
          <a:xfrm>
            <a:off x="10660556" y="1028700"/>
            <a:ext cx="6255889" cy="8229600"/>
            <a:chOff x="0" y="0"/>
            <a:chExt cx="812800" cy="1069236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812800" cy="1069236"/>
            </a:xfrm>
            <a:custGeom>
              <a:avLst/>
              <a:gdLst/>
              <a:ahLst/>
              <a:cxnLst/>
              <a:rect l="l" t="t" r="r" b="b"/>
              <a:pathLst>
                <a:path w="812800" h="1069236">
                  <a:moveTo>
                    <a:pt x="28463" y="0"/>
                  </a:moveTo>
                  <a:lnTo>
                    <a:pt x="784337" y="0"/>
                  </a:lnTo>
                  <a:cubicBezTo>
                    <a:pt x="800056" y="0"/>
                    <a:pt x="812800" y="12744"/>
                    <a:pt x="812800" y="28463"/>
                  </a:cubicBezTo>
                  <a:lnTo>
                    <a:pt x="812800" y="1040772"/>
                  </a:lnTo>
                  <a:cubicBezTo>
                    <a:pt x="812800" y="1056492"/>
                    <a:pt x="800056" y="1069236"/>
                    <a:pt x="784337" y="1069236"/>
                  </a:cubicBezTo>
                  <a:lnTo>
                    <a:pt x="28463" y="1069236"/>
                  </a:lnTo>
                  <a:cubicBezTo>
                    <a:pt x="12744" y="1069236"/>
                    <a:pt x="0" y="1056492"/>
                    <a:pt x="0" y="1040772"/>
                  </a:cubicBezTo>
                  <a:lnTo>
                    <a:pt x="0" y="28463"/>
                  </a:lnTo>
                  <a:cubicBezTo>
                    <a:pt x="0" y="12744"/>
                    <a:pt x="12744" y="0"/>
                    <a:pt x="28463" y="0"/>
                  </a:cubicBezTo>
                  <a:close/>
                </a:path>
              </a:pathLst>
            </a:custGeom>
            <a:blipFill>
              <a:blip r:embed="rId4"/>
              <a:stretch>
                <a:fillRect l="-123091" r="-123091"/>
              </a:stretch>
            </a:blipFill>
          </p:spPr>
        </p:sp>
      </p:grpSp>
      <p:sp>
        <p:nvSpPr>
          <p:cNvPr id="7" name="TextBox 7"/>
          <p:cNvSpPr txBox="1"/>
          <p:nvPr/>
        </p:nvSpPr>
        <p:spPr>
          <a:xfrm>
            <a:off x="640256" y="405691"/>
            <a:ext cx="10020300" cy="330859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8550"/>
              </a:lnSpc>
              <a:spcBef>
                <a:spcPct val="0"/>
              </a:spcBef>
            </a:pPr>
            <a:r>
              <a:rPr lang="en-IN" sz="8000" b="1" dirty="0">
                <a:solidFill>
                  <a:schemeClr val="tx2">
                    <a:lumMod val="75000"/>
                  </a:schemeClr>
                </a:solidFill>
              </a:rPr>
              <a:t>Project Summary &amp; Tech Stack</a:t>
            </a:r>
          </a:p>
          <a:p>
            <a:pPr marL="0" lvl="0" indent="0" algn="l">
              <a:lnSpc>
                <a:spcPts val="8550"/>
              </a:lnSpc>
              <a:spcBef>
                <a:spcPct val="0"/>
              </a:spcBef>
            </a:pPr>
            <a:r>
              <a:rPr lang="en-US" sz="7917" b="1" u="none" strike="noStrike" spc="-467" dirty="0">
                <a:solidFill>
                  <a:srgbClr val="185079"/>
                </a:solidFill>
                <a:latin typeface="Open Sauce Semi-Bold"/>
                <a:ea typeface="Open Sauce Semi-Bold"/>
                <a:cs typeface="Open Sauce Semi-Bold"/>
                <a:sym typeface="Open Sauce Semi-Bold"/>
              </a:rPr>
              <a:t> </a:t>
            </a:r>
          </a:p>
        </p:txBody>
      </p:sp>
      <p:sp>
        <p:nvSpPr>
          <p:cNvPr id="12" name="Title 1">
            <a:extLst>
              <a:ext uri="{FF2B5EF4-FFF2-40B4-BE49-F238E27FC236}">
                <a16:creationId xmlns:a16="http://schemas.microsoft.com/office/drawing/2014/main" id="{8FDD4568-256A-41CE-A22B-FA1D9361BB96}"/>
              </a:ext>
            </a:extLst>
          </p:cNvPr>
          <p:cNvSpPr txBox="1">
            <a:spLocks/>
          </p:cNvSpPr>
          <p:nvPr/>
        </p:nvSpPr>
        <p:spPr>
          <a:xfrm>
            <a:off x="1244975" y="3945838"/>
            <a:ext cx="8229600" cy="1143000"/>
          </a:xfrm>
          <a:prstGeom prst="rect">
            <a:avLst/>
          </a:prstGeom>
        </p:spPr>
        <p:txBody>
          <a:bodyPr/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en-IN" dirty="0"/>
          </a:p>
        </p:txBody>
      </p: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E8CBCDAA-A43A-5A96-1FC6-60C0DE09AEF5}"/>
              </a:ext>
            </a:extLst>
          </p:cNvPr>
          <p:cNvSpPr txBox="1">
            <a:spLocks/>
          </p:cNvSpPr>
          <p:nvPr/>
        </p:nvSpPr>
        <p:spPr>
          <a:xfrm>
            <a:off x="1265834" y="3314700"/>
            <a:ext cx="8967746" cy="6705850"/>
          </a:xfrm>
          <a:prstGeom prst="rect">
            <a:avLst/>
          </a:prstGeom>
        </p:spPr>
        <p:txBody>
          <a:bodyPr/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sz="3600" dirty="0">
                <a:solidFill>
                  <a:schemeClr val="tx2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Project Name: Resolve Hub </a:t>
            </a:r>
          </a:p>
          <a:p>
            <a:r>
              <a:rPr lang="en-IN" sz="3600" dirty="0">
                <a:solidFill>
                  <a:schemeClr val="tx2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Objective: A seamless, real-time tracking system for civic maintenance.</a:t>
            </a:r>
          </a:p>
          <a:p>
            <a:r>
              <a:rPr lang="en-IN" sz="4000" b="1" dirty="0">
                <a:solidFill>
                  <a:schemeClr val="tx2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TECH STACK </a:t>
            </a:r>
          </a:p>
          <a:p>
            <a:pPr lvl="1"/>
            <a:r>
              <a:rPr lang="en-IN" sz="3600" dirty="0">
                <a:solidFill>
                  <a:schemeClr val="tx2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Frontend: React (Vite), Tailwind CSS, Recharts</a:t>
            </a:r>
          </a:p>
          <a:p>
            <a:pPr lvl="1"/>
            <a:r>
              <a:rPr lang="en-IN" sz="3600" dirty="0">
                <a:solidFill>
                  <a:schemeClr val="tx2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Backend: Java, Spring Boot, REST APIs</a:t>
            </a:r>
          </a:p>
          <a:p>
            <a:pPr lvl="1"/>
            <a:r>
              <a:rPr lang="en-IN" sz="3600" dirty="0">
                <a:solidFill>
                  <a:schemeClr val="tx2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Database: MySQL (via XAMPP</a:t>
            </a:r>
            <a:r>
              <a:rPr lang="en-IN" sz="3600" dirty="0"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7181" t="-19076" r="-3000" b="-11427"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228600" y="342900"/>
            <a:ext cx="17283565" cy="9753600"/>
            <a:chOff x="0" y="0"/>
            <a:chExt cx="4407921" cy="2310176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4407921" cy="2310176"/>
            </a:xfrm>
            <a:custGeom>
              <a:avLst/>
              <a:gdLst/>
              <a:ahLst/>
              <a:cxnLst/>
              <a:rect l="l" t="t" r="r" b="b"/>
              <a:pathLst>
                <a:path w="4407921" h="2310176">
                  <a:moveTo>
                    <a:pt x="16190" y="0"/>
                  </a:moveTo>
                  <a:lnTo>
                    <a:pt x="4391731" y="0"/>
                  </a:lnTo>
                  <a:cubicBezTo>
                    <a:pt x="4400672" y="0"/>
                    <a:pt x="4407921" y="7249"/>
                    <a:pt x="4407921" y="16190"/>
                  </a:cubicBezTo>
                  <a:lnTo>
                    <a:pt x="4407921" y="2293986"/>
                  </a:lnTo>
                  <a:cubicBezTo>
                    <a:pt x="4407921" y="2302927"/>
                    <a:pt x="4400672" y="2310176"/>
                    <a:pt x="4391731" y="2310176"/>
                  </a:cubicBezTo>
                  <a:lnTo>
                    <a:pt x="16190" y="2310176"/>
                  </a:lnTo>
                  <a:cubicBezTo>
                    <a:pt x="7249" y="2310176"/>
                    <a:pt x="0" y="2302927"/>
                    <a:pt x="0" y="2293986"/>
                  </a:cubicBezTo>
                  <a:lnTo>
                    <a:pt x="0" y="16190"/>
                  </a:lnTo>
                  <a:cubicBezTo>
                    <a:pt x="0" y="7249"/>
                    <a:pt x="7249" y="0"/>
                    <a:pt x="16190" y="0"/>
                  </a:cubicBezTo>
                  <a:close/>
                </a:path>
              </a:pathLst>
            </a:custGeom>
            <a:solidFill>
              <a:srgbClr val="BBD6E1"/>
            </a:solidFill>
          </p:spPr>
        </p:sp>
        <p:sp>
          <p:nvSpPr>
            <p:cNvPr id="5" name="TextBox 5"/>
            <p:cNvSpPr txBox="1"/>
            <p:nvPr/>
          </p:nvSpPr>
          <p:spPr>
            <a:xfrm>
              <a:off x="0" y="-38100"/>
              <a:ext cx="4407921" cy="234827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22" name="TextBox 22"/>
          <p:cNvSpPr txBox="1"/>
          <p:nvPr/>
        </p:nvSpPr>
        <p:spPr>
          <a:xfrm>
            <a:off x="533400" y="496622"/>
            <a:ext cx="8839200" cy="110286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l">
              <a:lnSpc>
                <a:spcPts val="8550"/>
              </a:lnSpc>
              <a:spcBef>
                <a:spcPct val="0"/>
              </a:spcBef>
            </a:pPr>
            <a:r>
              <a:rPr lang="en-US" sz="7917" b="1" spc="-467" dirty="0">
                <a:solidFill>
                  <a:srgbClr val="185079"/>
                </a:solidFill>
                <a:latin typeface="Open Sauce Semi-Bold"/>
                <a:ea typeface="Open Sauce Semi-Bold"/>
                <a:cs typeface="Open Sauce Semi-Bold"/>
                <a:sym typeface="Open Sauce Semi-Bold"/>
              </a:rPr>
              <a:t>FLOW CHART</a:t>
            </a:r>
            <a:endParaRPr lang="en-US" sz="7917" b="1" u="none" strike="noStrike" spc="-467" dirty="0">
              <a:solidFill>
                <a:srgbClr val="185079"/>
              </a:solidFill>
              <a:latin typeface="Open Sauce Semi-Bold"/>
              <a:ea typeface="Open Sauce Semi-Bold"/>
              <a:cs typeface="Open Sauce Semi-Bold"/>
              <a:sym typeface="Open Sauce Semi-Bold"/>
            </a:endParaRPr>
          </a:p>
        </p:txBody>
      </p:sp>
      <p:pic>
        <p:nvPicPr>
          <p:cNvPr id="25" name="Picture 24">
            <a:extLst>
              <a:ext uri="{FF2B5EF4-FFF2-40B4-BE49-F238E27FC236}">
                <a16:creationId xmlns:a16="http://schemas.microsoft.com/office/drawing/2014/main" id="{727D047F-096C-F0CF-2C4A-11B2D23E50A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6800" y="1599488"/>
            <a:ext cx="15849600" cy="8344612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4B9338-3F94-4C89-E0D5-91430F8EDE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3">
            <a:extLst>
              <a:ext uri="{FF2B5EF4-FFF2-40B4-BE49-F238E27FC236}">
                <a16:creationId xmlns:a16="http://schemas.microsoft.com/office/drawing/2014/main" id="{904A649F-80FE-C440-1AC8-42B5F45E92E5}"/>
              </a:ext>
            </a:extLst>
          </p:cNvPr>
          <p:cNvSpPr txBox="1"/>
          <p:nvPr/>
        </p:nvSpPr>
        <p:spPr>
          <a:xfrm>
            <a:off x="272858" y="-207821"/>
            <a:ext cx="7634789" cy="94904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l">
              <a:lnSpc>
                <a:spcPts val="8550"/>
              </a:lnSpc>
              <a:spcBef>
                <a:spcPct val="0"/>
              </a:spcBef>
            </a:pPr>
            <a:r>
              <a:rPr lang="en-US" sz="3600" b="1" spc="-467" dirty="0">
                <a:solidFill>
                  <a:srgbClr val="185079"/>
                </a:solidFill>
                <a:latin typeface="Arial" panose="020B0604020202020204" pitchFamily="34" charset="0"/>
                <a:ea typeface="Open Sauce Semi-Bold"/>
                <a:cs typeface="Arial" panose="020B0604020202020204" pitchFamily="34" charset="0"/>
                <a:sym typeface="Open Sauce Semi-Bold"/>
              </a:rPr>
              <a:t>O U T P U T   I M  A G E S</a:t>
            </a:r>
            <a:endParaRPr lang="en-US" sz="3600" b="1" u="none" strike="noStrike" spc="-467" dirty="0">
              <a:solidFill>
                <a:srgbClr val="185079"/>
              </a:solidFill>
              <a:latin typeface="Arial" panose="020B0604020202020204" pitchFamily="34" charset="0"/>
              <a:ea typeface="Open Sauce Semi-Bold"/>
              <a:cs typeface="Arial" panose="020B0604020202020204" pitchFamily="34" charset="0"/>
              <a:sym typeface="Open Sauce Semi-Bold"/>
            </a:endParaRPr>
          </a:p>
        </p:txBody>
      </p:sp>
      <p:sp>
        <p:nvSpPr>
          <p:cNvPr id="6" name="Freeform 6">
            <a:extLst>
              <a:ext uri="{FF2B5EF4-FFF2-40B4-BE49-F238E27FC236}">
                <a16:creationId xmlns:a16="http://schemas.microsoft.com/office/drawing/2014/main" id="{768035EB-CD50-EA60-0701-85EC629A496D}"/>
              </a:ext>
            </a:extLst>
          </p:cNvPr>
          <p:cNvSpPr/>
          <p:nvPr/>
        </p:nvSpPr>
        <p:spPr>
          <a:xfrm>
            <a:off x="11275201" y="-7726307"/>
            <a:ext cx="15919790" cy="13575239"/>
          </a:xfrm>
          <a:custGeom>
            <a:avLst/>
            <a:gdLst/>
            <a:ahLst/>
            <a:cxnLst/>
            <a:rect l="l" t="t" r="r" b="b"/>
            <a:pathLst>
              <a:path w="15919790" h="13575239">
                <a:moveTo>
                  <a:pt x="0" y="0"/>
                </a:moveTo>
                <a:lnTo>
                  <a:pt x="15919790" y="0"/>
                </a:lnTo>
                <a:lnTo>
                  <a:pt x="15919790" y="13575239"/>
                </a:lnTo>
                <a:lnTo>
                  <a:pt x="0" y="1357523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BBE53D56-F8A1-3617-DAC0-F4440E2ECBB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03905" y="286332"/>
            <a:ext cx="8903095" cy="4476168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079CF704-215D-FCD5-2A6E-FEF1C3060AB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748" y="755355"/>
            <a:ext cx="8748253" cy="4800600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0E1DD1FE-3D12-4664-E24C-D9F13A757D94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5652" y="5848932"/>
            <a:ext cx="8748253" cy="4303943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F6433B61-8F76-ADC4-375E-D1F03F4FFB5B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27459" y="5143500"/>
            <a:ext cx="8155843" cy="49894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7315149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16424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7181" t="-19076" r="-3000" b="-11427"/>
            </a:stretch>
          </a:blipFill>
        </p:spPr>
      </p:sp>
      <p:sp>
        <p:nvSpPr>
          <p:cNvPr id="3" name="TextBox 3"/>
          <p:cNvSpPr txBox="1"/>
          <p:nvPr/>
        </p:nvSpPr>
        <p:spPr>
          <a:xfrm>
            <a:off x="1010786" y="566653"/>
            <a:ext cx="12324213" cy="110286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l">
              <a:lnSpc>
                <a:spcPts val="8550"/>
              </a:lnSpc>
              <a:spcBef>
                <a:spcPct val="0"/>
              </a:spcBef>
            </a:pPr>
            <a:r>
              <a:rPr lang="en-US" sz="7917" b="1" u="none" strike="noStrike" spc="-467" dirty="0">
                <a:solidFill>
                  <a:srgbClr val="185079"/>
                </a:solidFill>
                <a:latin typeface="Open Sauce Semi-Bold"/>
                <a:ea typeface="Open Sauce Semi-Bold"/>
                <a:cs typeface="Open Sauce Semi-Bold"/>
                <a:sym typeface="Open Sauce Semi-Bold"/>
              </a:rPr>
              <a:t>PROS                             CONS</a:t>
            </a:r>
          </a:p>
        </p:txBody>
      </p:sp>
      <p:grpSp>
        <p:nvGrpSpPr>
          <p:cNvPr id="5" name="Group 5"/>
          <p:cNvGrpSpPr/>
          <p:nvPr/>
        </p:nvGrpSpPr>
        <p:grpSpPr>
          <a:xfrm>
            <a:off x="1259060" y="2303162"/>
            <a:ext cx="5481637" cy="2476234"/>
            <a:chOff x="0" y="0"/>
            <a:chExt cx="935533" cy="800333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935533" cy="800333"/>
            </a:xfrm>
            <a:custGeom>
              <a:avLst/>
              <a:gdLst/>
              <a:ahLst/>
              <a:cxnLst/>
              <a:rect l="l" t="t" r="r" b="b"/>
              <a:pathLst>
                <a:path w="935533" h="800333">
                  <a:moveTo>
                    <a:pt x="47502" y="0"/>
                  </a:moveTo>
                  <a:lnTo>
                    <a:pt x="888030" y="0"/>
                  </a:lnTo>
                  <a:cubicBezTo>
                    <a:pt x="914265" y="0"/>
                    <a:pt x="935533" y="21268"/>
                    <a:pt x="935533" y="47502"/>
                  </a:cubicBezTo>
                  <a:lnTo>
                    <a:pt x="935533" y="752831"/>
                  </a:lnTo>
                  <a:cubicBezTo>
                    <a:pt x="935533" y="765429"/>
                    <a:pt x="930528" y="777512"/>
                    <a:pt x="921620" y="786420"/>
                  </a:cubicBezTo>
                  <a:cubicBezTo>
                    <a:pt x="912711" y="795329"/>
                    <a:pt x="900629" y="800333"/>
                    <a:pt x="888030" y="800333"/>
                  </a:cubicBezTo>
                  <a:lnTo>
                    <a:pt x="47502" y="800333"/>
                  </a:lnTo>
                  <a:cubicBezTo>
                    <a:pt x="34904" y="800333"/>
                    <a:pt x="22822" y="795329"/>
                    <a:pt x="13913" y="786420"/>
                  </a:cubicBezTo>
                  <a:cubicBezTo>
                    <a:pt x="5005" y="777512"/>
                    <a:pt x="0" y="765429"/>
                    <a:pt x="0" y="752831"/>
                  </a:cubicBezTo>
                  <a:lnTo>
                    <a:pt x="0" y="47502"/>
                  </a:lnTo>
                  <a:cubicBezTo>
                    <a:pt x="0" y="34904"/>
                    <a:pt x="5005" y="22822"/>
                    <a:pt x="13913" y="13913"/>
                  </a:cubicBezTo>
                  <a:cubicBezTo>
                    <a:pt x="22822" y="5005"/>
                    <a:pt x="34904" y="0"/>
                    <a:pt x="47502" y="0"/>
                  </a:cubicBezTo>
                  <a:close/>
                </a:path>
              </a:pathLst>
            </a:custGeom>
            <a:solidFill>
              <a:srgbClr val="BBD6E1"/>
            </a:solidFill>
            <a:ln cap="rnd">
              <a:noFill/>
              <a:prstDash val="solid"/>
              <a:round/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0" y="0"/>
              <a:ext cx="935533" cy="80033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87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11975138" y="2165231"/>
            <a:ext cx="5352360" cy="2390713"/>
            <a:chOff x="0" y="0"/>
            <a:chExt cx="935533" cy="800333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935533" cy="800333"/>
            </a:xfrm>
            <a:custGeom>
              <a:avLst/>
              <a:gdLst/>
              <a:ahLst/>
              <a:cxnLst/>
              <a:rect l="l" t="t" r="r" b="b"/>
              <a:pathLst>
                <a:path w="935533" h="800333">
                  <a:moveTo>
                    <a:pt x="47502" y="0"/>
                  </a:moveTo>
                  <a:lnTo>
                    <a:pt x="888030" y="0"/>
                  </a:lnTo>
                  <a:cubicBezTo>
                    <a:pt x="914265" y="0"/>
                    <a:pt x="935533" y="21268"/>
                    <a:pt x="935533" y="47502"/>
                  </a:cubicBezTo>
                  <a:lnTo>
                    <a:pt x="935533" y="752831"/>
                  </a:lnTo>
                  <a:cubicBezTo>
                    <a:pt x="935533" y="765429"/>
                    <a:pt x="930528" y="777512"/>
                    <a:pt x="921620" y="786420"/>
                  </a:cubicBezTo>
                  <a:cubicBezTo>
                    <a:pt x="912711" y="795329"/>
                    <a:pt x="900629" y="800333"/>
                    <a:pt x="888030" y="800333"/>
                  </a:cubicBezTo>
                  <a:lnTo>
                    <a:pt x="47502" y="800333"/>
                  </a:lnTo>
                  <a:cubicBezTo>
                    <a:pt x="34904" y="800333"/>
                    <a:pt x="22822" y="795329"/>
                    <a:pt x="13913" y="786420"/>
                  </a:cubicBezTo>
                  <a:cubicBezTo>
                    <a:pt x="5005" y="777512"/>
                    <a:pt x="0" y="765429"/>
                    <a:pt x="0" y="752831"/>
                  </a:cubicBezTo>
                  <a:lnTo>
                    <a:pt x="0" y="47502"/>
                  </a:lnTo>
                  <a:cubicBezTo>
                    <a:pt x="0" y="34904"/>
                    <a:pt x="5005" y="22822"/>
                    <a:pt x="13913" y="13913"/>
                  </a:cubicBezTo>
                  <a:cubicBezTo>
                    <a:pt x="22822" y="5005"/>
                    <a:pt x="34904" y="0"/>
                    <a:pt x="47502" y="0"/>
                  </a:cubicBezTo>
                  <a:close/>
                </a:path>
              </a:pathLst>
            </a:custGeom>
            <a:solidFill>
              <a:srgbClr val="95BFD1"/>
            </a:solidFill>
            <a:ln cap="rnd">
              <a:noFill/>
              <a:prstDash val="solid"/>
              <a:round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0" y="0"/>
              <a:ext cx="935533" cy="80033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87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1259060" y="5748525"/>
            <a:ext cx="5546246" cy="2648141"/>
            <a:chOff x="0" y="0"/>
            <a:chExt cx="935533" cy="800333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935533" cy="800333"/>
            </a:xfrm>
            <a:custGeom>
              <a:avLst/>
              <a:gdLst/>
              <a:ahLst/>
              <a:cxnLst/>
              <a:rect l="l" t="t" r="r" b="b"/>
              <a:pathLst>
                <a:path w="935533" h="800333">
                  <a:moveTo>
                    <a:pt x="47502" y="0"/>
                  </a:moveTo>
                  <a:lnTo>
                    <a:pt x="888030" y="0"/>
                  </a:lnTo>
                  <a:cubicBezTo>
                    <a:pt x="914265" y="0"/>
                    <a:pt x="935533" y="21268"/>
                    <a:pt x="935533" y="47502"/>
                  </a:cubicBezTo>
                  <a:lnTo>
                    <a:pt x="935533" y="752831"/>
                  </a:lnTo>
                  <a:cubicBezTo>
                    <a:pt x="935533" y="765429"/>
                    <a:pt x="930528" y="777512"/>
                    <a:pt x="921620" y="786420"/>
                  </a:cubicBezTo>
                  <a:cubicBezTo>
                    <a:pt x="912711" y="795329"/>
                    <a:pt x="900629" y="800333"/>
                    <a:pt x="888030" y="800333"/>
                  </a:cubicBezTo>
                  <a:lnTo>
                    <a:pt x="47502" y="800333"/>
                  </a:lnTo>
                  <a:cubicBezTo>
                    <a:pt x="34904" y="800333"/>
                    <a:pt x="22822" y="795329"/>
                    <a:pt x="13913" y="786420"/>
                  </a:cubicBezTo>
                  <a:cubicBezTo>
                    <a:pt x="5005" y="777512"/>
                    <a:pt x="0" y="765429"/>
                    <a:pt x="0" y="752831"/>
                  </a:cubicBezTo>
                  <a:lnTo>
                    <a:pt x="0" y="47502"/>
                  </a:lnTo>
                  <a:cubicBezTo>
                    <a:pt x="0" y="34904"/>
                    <a:pt x="5005" y="22822"/>
                    <a:pt x="13913" y="13913"/>
                  </a:cubicBezTo>
                  <a:cubicBezTo>
                    <a:pt x="22822" y="5005"/>
                    <a:pt x="34904" y="0"/>
                    <a:pt x="47502" y="0"/>
                  </a:cubicBezTo>
                  <a:close/>
                </a:path>
              </a:pathLst>
            </a:custGeom>
            <a:solidFill>
              <a:srgbClr val="6BA1BC"/>
            </a:solidFill>
            <a:ln cap="rnd">
              <a:noFill/>
              <a:prstDash val="solid"/>
              <a:round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0" y="0"/>
              <a:ext cx="935533" cy="80033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87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11975138" y="5759807"/>
            <a:ext cx="5575761" cy="2810962"/>
            <a:chOff x="0" y="0"/>
            <a:chExt cx="935533" cy="800333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935533" cy="800333"/>
            </a:xfrm>
            <a:custGeom>
              <a:avLst/>
              <a:gdLst/>
              <a:ahLst/>
              <a:cxnLst/>
              <a:rect l="l" t="t" r="r" b="b"/>
              <a:pathLst>
                <a:path w="935533" h="800333">
                  <a:moveTo>
                    <a:pt x="47502" y="0"/>
                  </a:moveTo>
                  <a:lnTo>
                    <a:pt x="888030" y="0"/>
                  </a:lnTo>
                  <a:cubicBezTo>
                    <a:pt x="914265" y="0"/>
                    <a:pt x="935533" y="21268"/>
                    <a:pt x="935533" y="47502"/>
                  </a:cubicBezTo>
                  <a:lnTo>
                    <a:pt x="935533" y="752831"/>
                  </a:lnTo>
                  <a:cubicBezTo>
                    <a:pt x="935533" y="765429"/>
                    <a:pt x="930528" y="777512"/>
                    <a:pt x="921620" y="786420"/>
                  </a:cubicBezTo>
                  <a:cubicBezTo>
                    <a:pt x="912711" y="795329"/>
                    <a:pt x="900629" y="800333"/>
                    <a:pt x="888030" y="800333"/>
                  </a:cubicBezTo>
                  <a:lnTo>
                    <a:pt x="47502" y="800333"/>
                  </a:lnTo>
                  <a:cubicBezTo>
                    <a:pt x="34904" y="800333"/>
                    <a:pt x="22822" y="795329"/>
                    <a:pt x="13913" y="786420"/>
                  </a:cubicBezTo>
                  <a:cubicBezTo>
                    <a:pt x="5005" y="777512"/>
                    <a:pt x="0" y="765429"/>
                    <a:pt x="0" y="752831"/>
                  </a:cubicBezTo>
                  <a:lnTo>
                    <a:pt x="0" y="47502"/>
                  </a:lnTo>
                  <a:cubicBezTo>
                    <a:pt x="0" y="34904"/>
                    <a:pt x="5005" y="22822"/>
                    <a:pt x="13913" y="13913"/>
                  </a:cubicBezTo>
                  <a:cubicBezTo>
                    <a:pt x="22822" y="5005"/>
                    <a:pt x="34904" y="0"/>
                    <a:pt x="47502" y="0"/>
                  </a:cubicBezTo>
                  <a:close/>
                </a:path>
              </a:pathLst>
            </a:custGeom>
            <a:solidFill>
              <a:srgbClr val="3885AB"/>
            </a:solidFill>
            <a:ln cap="rnd">
              <a:noFill/>
              <a:prstDash val="solid"/>
              <a:round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0" y="0"/>
              <a:ext cx="935533" cy="80033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87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18" name="TextBox 18"/>
          <p:cNvSpPr txBox="1"/>
          <p:nvPr/>
        </p:nvSpPr>
        <p:spPr>
          <a:xfrm>
            <a:off x="1658305" y="2610073"/>
            <a:ext cx="4755316" cy="209281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5599"/>
              </a:lnSpc>
              <a:spcBef>
                <a:spcPct val="0"/>
              </a:spcBef>
            </a:pPr>
            <a:r>
              <a:rPr lang="en-IN" sz="4000" dirty="0">
                <a:latin typeface="Arial" panose="020B0604020202020204" pitchFamily="34" charset="0"/>
                <a:cs typeface="Arial" panose="020B0604020202020204" pitchFamily="34" charset="0"/>
              </a:rPr>
              <a:t>High Transparency &amp; Real-time tracking</a:t>
            </a:r>
          </a:p>
          <a:p>
            <a:pPr marL="0" lvl="0" indent="0" algn="ctr">
              <a:lnSpc>
                <a:spcPts val="5599"/>
              </a:lnSpc>
              <a:spcBef>
                <a:spcPct val="0"/>
              </a:spcBef>
            </a:pPr>
            <a:endParaRPr lang="en-US" sz="3999" b="1" spc="23" dirty="0">
              <a:solidFill>
                <a:srgbClr val="185079"/>
              </a:solidFill>
              <a:latin typeface="Open Sauce Bold"/>
              <a:ea typeface="Open Sauce Bold"/>
              <a:cs typeface="Open Sauce Bold"/>
              <a:sym typeface="Open Sauce Bold"/>
            </a:endParaRPr>
          </a:p>
        </p:txBody>
      </p:sp>
      <p:sp>
        <p:nvSpPr>
          <p:cNvPr id="20" name="TextBox 20"/>
          <p:cNvSpPr txBox="1"/>
          <p:nvPr/>
        </p:nvSpPr>
        <p:spPr>
          <a:xfrm>
            <a:off x="11614277" y="2332537"/>
            <a:ext cx="5941034" cy="281096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5599"/>
              </a:lnSpc>
              <a:spcBef>
                <a:spcPct val="0"/>
              </a:spcBef>
            </a:pPr>
            <a:r>
              <a:rPr lang="en-US" sz="4000" dirty="0">
                <a:latin typeface="Arial" panose="020B0604020202020204" pitchFamily="34" charset="0"/>
                <a:cs typeface="Arial" panose="020B0604020202020204" pitchFamily="34" charset="0"/>
              </a:rPr>
              <a:t>Dependent on physical responsiveness of authorities</a:t>
            </a:r>
          </a:p>
          <a:p>
            <a:pPr marL="0" lvl="0" indent="0" algn="ctr">
              <a:lnSpc>
                <a:spcPts val="5599"/>
              </a:lnSpc>
              <a:spcBef>
                <a:spcPct val="0"/>
              </a:spcBef>
            </a:pPr>
            <a:endParaRPr lang="en-US" sz="3999" b="1" spc="23" dirty="0">
              <a:solidFill>
                <a:srgbClr val="185079"/>
              </a:solidFill>
              <a:latin typeface="Open Sauce Bold"/>
              <a:ea typeface="Open Sauce Bold"/>
              <a:cs typeface="Open Sauce Bold"/>
              <a:sym typeface="Open Sauce Bold"/>
            </a:endParaRPr>
          </a:p>
        </p:txBody>
      </p:sp>
      <p:sp>
        <p:nvSpPr>
          <p:cNvPr id="24" name="TextBox 24"/>
          <p:cNvSpPr txBox="1"/>
          <p:nvPr/>
        </p:nvSpPr>
        <p:spPr>
          <a:xfrm>
            <a:off x="12036223" y="6125037"/>
            <a:ext cx="5575761" cy="281096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5599"/>
              </a:lnSpc>
              <a:spcBef>
                <a:spcPct val="0"/>
              </a:spcBef>
            </a:pPr>
            <a:r>
              <a:rPr lang="en-IN" sz="4000" dirty="0">
                <a:latin typeface="Arial" panose="020B0604020202020204" pitchFamily="34" charset="0"/>
                <a:cs typeface="Arial" panose="020B0604020202020204" pitchFamily="34" charset="0"/>
              </a:rPr>
              <a:t>Requires internet access and smart devices</a:t>
            </a:r>
          </a:p>
          <a:p>
            <a:pPr marL="0" lvl="0" indent="0" algn="ctr">
              <a:lnSpc>
                <a:spcPts val="5599"/>
              </a:lnSpc>
              <a:spcBef>
                <a:spcPct val="0"/>
              </a:spcBef>
            </a:pPr>
            <a:endParaRPr lang="en-US" sz="3999" b="1" spc="23" dirty="0">
              <a:solidFill>
                <a:srgbClr val="FBF6F1"/>
              </a:solidFill>
              <a:latin typeface="Open Sauce Bold"/>
              <a:ea typeface="Open Sauce Bold"/>
              <a:cs typeface="Open Sauce Bold"/>
              <a:sym typeface="Open Sauce Bold"/>
            </a:endParaRPr>
          </a:p>
        </p:txBody>
      </p:sp>
      <p:sp>
        <p:nvSpPr>
          <p:cNvPr id="26" name="AutoShape 3">
            <a:extLst>
              <a:ext uri="{FF2B5EF4-FFF2-40B4-BE49-F238E27FC236}">
                <a16:creationId xmlns:a16="http://schemas.microsoft.com/office/drawing/2014/main" id="{176F68F1-C30B-1C4C-6291-2187A6DFCA9C}"/>
              </a:ext>
            </a:extLst>
          </p:cNvPr>
          <p:cNvSpPr/>
          <p:nvPr/>
        </p:nvSpPr>
        <p:spPr>
          <a:xfrm flipH="1">
            <a:off x="9171567" y="183777"/>
            <a:ext cx="35653" cy="9919445"/>
          </a:xfrm>
          <a:prstGeom prst="line">
            <a:avLst/>
          </a:prstGeom>
          <a:ln w="28575" cap="flat">
            <a:solidFill>
              <a:srgbClr val="185079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B14D6CC7-07EB-3DD2-9BFC-8F6EE60F885D}"/>
              </a:ext>
            </a:extLst>
          </p:cNvPr>
          <p:cNvSpPr txBox="1"/>
          <p:nvPr/>
        </p:nvSpPr>
        <p:spPr>
          <a:xfrm>
            <a:off x="1658305" y="6358243"/>
            <a:ext cx="6050235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4000" dirty="0">
                <a:latin typeface="Arial" panose="020B0604020202020204" pitchFamily="34" charset="0"/>
                <a:cs typeface="Arial" panose="020B0604020202020204" pitchFamily="34" charset="0"/>
              </a:rPr>
              <a:t>Efficient workflow for municipal authorities</a:t>
            </a:r>
            <a:endParaRPr lang="en-IN" sz="4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29" name="Picture 28" descr="1,600+ Pro And Con Stock Illustrations, Royalty-Free Vector Graphics &amp; Clip  Art - iStock">
            <a:extLst>
              <a:ext uri="{FF2B5EF4-FFF2-40B4-BE49-F238E27FC236}">
                <a16:creationId xmlns:a16="http://schemas.microsoft.com/office/drawing/2014/main" id="{852F9CAD-A149-B486-79C8-AE2E309EE5F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90504" y="2991043"/>
            <a:ext cx="4033432" cy="40386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8991600" y="0"/>
            <a:ext cx="92964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7181" t="-19076" r="-3000" b="-11427"/>
            </a:stretch>
          </a:blipFill>
        </p:spPr>
      </p:sp>
      <p:sp>
        <p:nvSpPr>
          <p:cNvPr id="3" name="TextBox 3"/>
          <p:cNvSpPr txBox="1"/>
          <p:nvPr/>
        </p:nvSpPr>
        <p:spPr>
          <a:xfrm>
            <a:off x="914400" y="1209458"/>
            <a:ext cx="8718743" cy="110286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8550"/>
              </a:lnSpc>
              <a:spcBef>
                <a:spcPct val="0"/>
              </a:spcBef>
            </a:pPr>
            <a:r>
              <a:rPr lang="en-US" sz="7917" b="1" u="none" strike="noStrike" spc="-467" dirty="0">
                <a:solidFill>
                  <a:srgbClr val="185079"/>
                </a:solidFill>
                <a:latin typeface="Open Sauce Semi-Bold"/>
                <a:ea typeface="Open Sauce Semi-Bold"/>
                <a:cs typeface="Open Sauce Semi-Bold"/>
                <a:sym typeface="Open Sauce Semi-Bold"/>
              </a:rPr>
              <a:t>CONCLUSION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858015" y="2520811"/>
            <a:ext cx="8189971" cy="655673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457200" lvl="0" indent="-457200">
              <a:lnSpc>
                <a:spcPct val="150000"/>
              </a:lnSpc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en-US" sz="3200" b="1" dirty="0">
                <a:solidFill>
                  <a:srgbClr val="185079"/>
                </a:solidFill>
                <a:latin typeface="Arial" panose="020B0604020202020204" pitchFamily="34" charset="0"/>
                <a:ea typeface="Open Sauce Bold"/>
                <a:cs typeface="Arial" panose="020B0604020202020204" pitchFamily="34" charset="0"/>
                <a:sym typeface="Open Sauce Bold"/>
              </a:rPr>
              <a:t>Resolve Hub connects citizens and municipal authorities on one platform.</a:t>
            </a:r>
          </a:p>
          <a:p>
            <a:pPr marL="457200" lvl="0" indent="-457200">
              <a:lnSpc>
                <a:spcPct val="150000"/>
              </a:lnSpc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en-US" sz="3200" b="1" dirty="0">
                <a:solidFill>
                  <a:srgbClr val="185079"/>
                </a:solidFill>
                <a:latin typeface="Arial" panose="020B0604020202020204" pitchFamily="34" charset="0"/>
                <a:ea typeface="Open Sauce Bold"/>
                <a:cs typeface="Arial" panose="020B0604020202020204" pitchFamily="34" charset="0"/>
                <a:sym typeface="Open Sauce Bold"/>
              </a:rPr>
              <a:t>It makes issue reporting simple, transparent, and trackable.</a:t>
            </a:r>
          </a:p>
          <a:p>
            <a:pPr marL="457200" lvl="0" indent="-457200">
              <a:lnSpc>
                <a:spcPct val="150000"/>
              </a:lnSpc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en-US" sz="3200" b="1" dirty="0">
                <a:solidFill>
                  <a:srgbClr val="185079"/>
                </a:solidFill>
                <a:latin typeface="Arial" panose="020B0604020202020204" pitchFamily="34" charset="0"/>
                <a:ea typeface="Open Sauce Bold"/>
                <a:cs typeface="Arial" panose="020B0604020202020204" pitchFamily="34" charset="0"/>
                <a:sym typeface="Open Sauce Bold"/>
              </a:rPr>
              <a:t>Authorities can efficiently prioritize and manage reported problems.</a:t>
            </a:r>
          </a:p>
          <a:p>
            <a:pPr marL="457200" lvl="0" indent="-457200">
              <a:lnSpc>
                <a:spcPct val="150000"/>
              </a:lnSpc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en-US" sz="3200" b="1" dirty="0">
                <a:solidFill>
                  <a:srgbClr val="185079"/>
                </a:solidFill>
                <a:latin typeface="Arial" panose="020B0604020202020204" pitchFamily="34" charset="0"/>
                <a:ea typeface="Open Sauce Bold"/>
                <a:cs typeface="Arial" panose="020B0604020202020204" pitchFamily="34" charset="0"/>
                <a:sym typeface="Open Sauce Bold"/>
              </a:rPr>
              <a:t>Our goal is to build smarter communities with faster issue resolution.</a:t>
            </a:r>
            <a:endParaRPr lang="en-US" sz="3200" b="1" u="none" strike="noStrike" dirty="0">
              <a:solidFill>
                <a:srgbClr val="185079"/>
              </a:solidFill>
              <a:latin typeface="Arial" panose="020B0604020202020204" pitchFamily="34" charset="0"/>
              <a:ea typeface="Open Sauce Bold"/>
              <a:cs typeface="Arial" panose="020B0604020202020204" pitchFamily="34" charset="0"/>
              <a:sym typeface="Open Sauce Bold"/>
            </a:endParaRPr>
          </a:p>
        </p:txBody>
      </p:sp>
      <p:sp>
        <p:nvSpPr>
          <p:cNvPr id="6" name="Freeform 6"/>
          <p:cNvSpPr/>
          <p:nvPr/>
        </p:nvSpPr>
        <p:spPr>
          <a:xfrm>
            <a:off x="11275201" y="-7726307"/>
            <a:ext cx="15919790" cy="13575239"/>
          </a:xfrm>
          <a:custGeom>
            <a:avLst/>
            <a:gdLst/>
            <a:ahLst/>
            <a:cxnLst/>
            <a:rect l="l" t="t" r="r" b="b"/>
            <a:pathLst>
              <a:path w="15919790" h="13575239">
                <a:moveTo>
                  <a:pt x="0" y="0"/>
                </a:moveTo>
                <a:lnTo>
                  <a:pt x="15919790" y="0"/>
                </a:lnTo>
                <a:lnTo>
                  <a:pt x="15919790" y="13575239"/>
                </a:lnTo>
                <a:lnTo>
                  <a:pt x="0" y="1357523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pic>
        <p:nvPicPr>
          <p:cNvPr id="9" name="Picture 8" descr="Conclusion Word Cloud Concept on Grey Background Stock Photo - Image of  finger, conclusion: 90690502">
            <a:extLst>
              <a:ext uri="{FF2B5EF4-FFF2-40B4-BE49-F238E27FC236}">
                <a16:creationId xmlns:a16="http://schemas.microsoft.com/office/drawing/2014/main" id="{6E896A3E-66A6-CC00-37A7-EE4D7E18062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07932" y="800100"/>
            <a:ext cx="7620000" cy="89154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74</TotalTime>
  <Words>182</Words>
  <Application>Microsoft Office PowerPoint</Application>
  <PresentationFormat>Custom</PresentationFormat>
  <Paragraphs>27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2" baseType="lpstr">
      <vt:lpstr>Arial</vt:lpstr>
      <vt:lpstr>Open Sauce</vt:lpstr>
      <vt:lpstr>Open Sauce Semi-Bold</vt:lpstr>
      <vt:lpstr>Calibri</vt:lpstr>
      <vt:lpstr>Open Sauce 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Blue and White Modern Business Proposal Presentation</dc:title>
  <dc:creator>Madhumitha K</dc:creator>
  <cp:lastModifiedBy>Madhumitha K</cp:lastModifiedBy>
  <cp:revision>2</cp:revision>
  <dcterms:created xsi:type="dcterms:W3CDTF">2006-08-16T00:00:00Z</dcterms:created>
  <dcterms:modified xsi:type="dcterms:W3CDTF">2026-08-24T19:21:20Z</dcterms:modified>
  <dc:identifier>DAHTOmS72jc</dc:identifier>
</cp:coreProperties>
</file>